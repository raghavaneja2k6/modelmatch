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61104" y="685800"/>
            <a:ext cx="3657600" cy="347472"/>
          </a:xfrm>
          <a:prstGeom prst="roundRect">
            <a:avLst/>
          </a:prstGeom>
          <a:solidFill>
            <a:srgbClr val="0E2820"/>
          </a:solidFill>
          <a:ln w="1524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A37F"/>
                </a:solidFill>
                <a:latin typeface="Segoe UI"/>
              </a:defRPr>
            </a:pPr>
            <a:r>
              <a:t>PROJECT BOARD REVIEW 1 — JAVA WEB APPLICATION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190" y="123444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24028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MODEL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71800"/>
            <a:ext cx="9445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AI-Powered Large Language Model Recommendation &amp; Ranking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566160"/>
            <a:ext cx="7616952" cy="8229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/>
          <a:lstStyle/>
          <a:p>
            <a:pPr algn="ctr">
              <a:defRPr sz="1300" i="1">
                <a:solidFill>
                  <a:srgbClr val="FFFFFF"/>
                </a:solidFill>
                <a:latin typeface="Segoe UI"/>
              </a:defRPr>
            </a:pPr>
            <a:r>
              <a:t>“Tell us what you want to do, and ModelMatch tells you which AI model is best suited for it—and why.”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3328416" cy="12801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73168"/>
            <a:ext cx="3054096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A37F"/>
                </a:solidFill>
                <a:latin typeface="Segoe UI"/>
              </a:defRPr>
            </a:pPr>
            <a:r>
              <a:t>PROJECT DOMAIN</a:t>
            </a:r>
          </a:p>
          <a:p>
            <a:pPr>
              <a:defRPr sz="1100">
                <a:solidFill>
                  <a:srgbClr val="DCDCDC"/>
                </a:solidFill>
                <a:latin typeface="Segoe UI"/>
              </a:defRPr>
            </a:pPr>
            <a:r>
              <a:t>• AI Decision-Support System</a:t>
            </a:r>
          </a:p>
          <a:p>
            <a:pPr>
              <a:defRPr sz="1100">
                <a:solidFill>
                  <a:srgbClr val="DCDCDC"/>
                </a:solidFill>
                <a:latin typeface="Segoe UI"/>
              </a:defRPr>
            </a:pPr>
            <a:r>
              <a:t>• Natural Language Task Analysis</a:t>
            </a:r>
          </a:p>
          <a:p>
            <a:pPr>
              <a:defRPr sz="1100">
                <a:solidFill>
                  <a:srgbClr val="DCDCDC"/>
                </a:solidFill>
                <a:latin typeface="Segoe UI"/>
              </a:defRPr>
            </a:pPr>
            <a:r>
              <a:t>• Vector Similarity &amp; Multi-Criteria Ranking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4663440"/>
            <a:ext cx="3328416" cy="12801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4773168"/>
            <a:ext cx="3054096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A37F"/>
                </a:solidFill>
                <a:latin typeface="Segoe UI"/>
              </a:defRPr>
            </a:pPr>
            <a:r>
              <a:t>TECHNOLOGY STACK</a:t>
            </a:r>
          </a:p>
          <a:p>
            <a:pPr>
              <a:defRPr sz="1100">
                <a:solidFill>
                  <a:srgbClr val="DCDCDC"/>
                </a:solidFill>
                <a:latin typeface="Segoe UI"/>
              </a:defRPr>
            </a:pPr>
            <a:r>
              <a:t>• Core Java 21 LTS &amp; Virtual Threads</a:t>
            </a:r>
          </a:p>
          <a:p>
            <a:pPr>
              <a:defRPr sz="1100">
                <a:solidFill>
                  <a:srgbClr val="DCDCDC"/>
                </a:solidFill>
                <a:latin typeface="Segoe UI"/>
              </a:defRPr>
            </a:pPr>
            <a:r>
              <a:t>• Google Gemini 3.5 Flash NLP API</a:t>
            </a:r>
          </a:p>
          <a:p>
            <a:pPr>
              <a:defRPr sz="1100">
                <a:solidFill>
                  <a:srgbClr val="DCDCDC"/>
                </a:solidFill>
                <a:latin typeface="Segoe UI"/>
              </a:defRPr>
            </a:pPr>
            <a:r>
              <a:t>• Embedded HTTPServer · ChatGPT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4663440"/>
            <a:ext cx="3328416" cy="12801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4773168"/>
            <a:ext cx="3054096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A37F"/>
                </a:solidFill>
                <a:latin typeface="Segoe UI"/>
              </a:defRPr>
            </a:pPr>
            <a:r>
              <a:t>ACADEMIC BOARD</a:t>
            </a:r>
          </a:p>
          <a:p>
            <a:pPr>
              <a:defRPr sz="1100">
                <a:solidFill>
                  <a:srgbClr val="DCDCDC"/>
                </a:solidFill>
                <a:latin typeface="Segoe UI"/>
              </a:defRPr>
            </a:pPr>
            <a:r>
              <a:t>• Galgotias University</a:t>
            </a:r>
          </a:p>
          <a:p>
            <a:pPr>
              <a:defRPr sz="1100">
                <a:solidFill>
                  <a:srgbClr val="DCDCDC"/>
                </a:solidFill>
                <a:latin typeface="Segoe UI"/>
              </a:defRPr>
            </a:pPr>
            <a:r>
              <a:t>• GUVI Project Board Review 1</a:t>
            </a:r>
          </a:p>
          <a:p>
            <a:pPr>
              <a:defRPr sz="1100">
                <a:solidFill>
                  <a:srgbClr val="DCDCDC"/>
                </a:solidFill>
                <a:latin typeface="Segoe UI"/>
              </a:defRPr>
            </a:pPr>
            <a:r>
              <a:t>• Track: Java Web Development &amp;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309360"/>
            <a:ext cx="10725912" cy="1371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Segoe UI"/>
              </a:defRPr>
            </a:pPr>
            <a:r>
              <a:t>MODELMATCH · AI-POWERED LLM RECOMMENDATION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355080"/>
            <a:ext cx="5056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6E6E"/>
                </a:solidFill>
                <a:latin typeface="Segoe UI"/>
              </a:defRPr>
            </a:pPr>
            <a:r>
              <a:t>GALGOTIAS UNIVERSITY / GUVI PROJECT BOARD REVIEW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274320"/>
          </a:xfrm>
          <a:prstGeom prst="roundRect">
            <a:avLst/>
          </a:prstGeom>
          <a:solidFill>
            <a:srgbClr val="0E2820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/>
          <a:lstStyle/>
          <a:p>
            <a:pPr algn="ctr">
              <a:defRPr sz="950" b="1">
                <a:solidFill>
                  <a:srgbClr val="10A37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411480"/>
            <a:ext cx="121615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969696"/>
                </a:solidFill>
                <a:latin typeface="Segoe UI"/>
              </a:defRPr>
            </a:pPr>
            <a: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Problem: Navigating the LLM Frontier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39319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The Frontier AI Selection Crisis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• Explosion of Models: </a:t>
            </a:r>
            <a:r>
              <a:rPr sz="1050">
                <a:solidFill>
                  <a:srgbClr val="DCDCDC"/>
                </a:solidFill>
                <a:latin typeface="Segoe UI"/>
              </a:rPr>
              <a:t>Dozens of frontier models (Claude 3.7 Sonnet, GPT-4o, Gemini 3.5 Flash, DeepSeek R1, Qwen 2.5) with radically different architectures and strengths.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• Multi-Dimensional Trade-offs: </a:t>
            </a:r>
            <a:r>
              <a:rPr sz="1050">
                <a:solidFill>
                  <a:srgbClr val="DCDCDC"/>
                </a:solidFill>
                <a:latin typeface="Segoe UI"/>
              </a:rPr>
              <a:t>No single model dominates all axes. Superior reasoning often means slower latency; large context windows can inflate dollar costs.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• Extreme Cost Disparity: </a:t>
            </a:r>
            <a:r>
              <a:rPr sz="1050">
                <a:solidFill>
                  <a:srgbClr val="DCDCDC"/>
                </a:solidFill>
                <a:latin typeface="Segoe UI"/>
              </a:rPr>
              <a:t>Token pricing varies by over 200× — from $0.075/1M tokens (Gemini Flash) up to $15.00/1M tokens (Claude Sonnet extended output).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FFFFF"/>
                </a:solidFill>
                <a:latin typeface="Segoe UI"/>
              </a:rPr>
              <a:t>• Lack of Explainability: </a:t>
            </a:r>
            <a:r>
              <a:rPr sz="1050">
                <a:solidFill>
                  <a:srgbClr val="DCDCDC"/>
                </a:solidFill>
                <a:latin typeface="Segoe UI"/>
              </a:rPr>
              <a:t>Engineers resort to subjective brand hype rather than empirical task matching, resulting in over-budget API bills or degraded task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2392" cy="39319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5087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How Decisions Are Made Today vs. Reality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4873752" cy="621792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STEP 1: USER HAS A TASK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e.g., Code a distributed Java microservice or summarize 100 PDF 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61488"/>
            <a:ext cx="4873752" cy="621792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STEP 2: CONFUSING MODEL LANDSCAPE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12+ leading LLMs with conflicting marketing claims &amp; benchmarks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511296"/>
            <a:ext cx="4873752" cy="621792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STEP 3: MULTI-CRITERIA TENSION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Reasoning vs. Coding vs. Context vs. Vision vs. Speed vs.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261104"/>
            <a:ext cx="4873752" cy="621792"/>
          </a:xfrm>
          <a:prstGeom prst="roundRect">
            <a:avLst/>
          </a:prstGeom>
          <a:solidFill>
            <a:srgbClr val="0E2820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950" b="1">
                <a:solidFill>
                  <a:srgbClr val="10A37F"/>
                </a:solidFill>
                <a:latin typeface="Segoe UI"/>
              </a:defRPr>
            </a:pPr>
            <a:r>
              <a:t>STEP 4: SUBOPTIMAL SELECTION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Defaulting to hyped models causes 5x-10x budget waste or context overflow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25912" cy="594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10A37F"/>
                </a:solidFill>
              </a:rPr>
              <a:t>CORE THESIS: </a:t>
            </a:r>
            <a:r>
              <a:rPr b="1" sz="1200">
                <a:solidFill>
                  <a:srgbClr val="FFFFFF"/>
                </a:solidFill>
              </a:rPr>
              <a:t>“Choosing an AI model should be based on mathematical task suitability—not brand popularity.”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5912" cy="1371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Segoe UI"/>
              </a:defRPr>
            </a:pPr>
            <a:r>
              <a:t>MODELMATCH · AI-POWERED LLM RECOMMENDATION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355080"/>
            <a:ext cx="5056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6E6E"/>
                </a:solidFill>
                <a:latin typeface="Segoe UI"/>
              </a:defRPr>
            </a:pPr>
            <a:r>
              <a:t>GALGOTIAS UNIVERSITY / GUVI PROJECT BOARD REVIEW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274320"/>
          </a:xfrm>
          <a:prstGeom prst="roundRect">
            <a:avLst/>
          </a:prstGeom>
          <a:solidFill>
            <a:srgbClr val="0E2820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/>
          <a:lstStyle/>
          <a:p>
            <a:pPr algn="ctr">
              <a:defRPr sz="950" b="1">
                <a:solidFill>
                  <a:srgbClr val="10A37F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411480"/>
            <a:ext cx="121615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969696"/>
                </a:solidFill>
                <a:latin typeface="Segoe UI"/>
              </a:defRPr>
            </a:pPr>
            <a: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Our Solution — ModelMatch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542032" cy="1874519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000" b="1">
                <a:solidFill>
                  <a:srgbClr val="10A37F"/>
                </a:solidFill>
                <a:latin typeface="Segoe UI"/>
              </a:defRPr>
            </a:pPr>
            <a:r>
              <a:t>01. Natural Language Task</a:t>
            </a:r>
          </a:p>
          <a:p>
            <a:pPr>
              <a:spcAft>
                <a:spcPts val="400"/>
              </a:spcAft>
              <a:defRPr sz="850" b="1">
                <a:solidFill>
                  <a:srgbClr val="969696"/>
                </a:solidFill>
                <a:latin typeface="Segoe UI"/>
              </a:defRPr>
            </a:pPr>
            <a:r>
              <a:t>Developer / User Input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User freely describes their goal in plain English (e.g. 'Build a high-performance REST API with distributed caching on a strict budget').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17320"/>
            <a:ext cx="2542032" cy="1874519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02. NLP Task Classification</a:t>
            </a:r>
          </a:p>
          <a:p>
            <a:pPr>
              <a:spcAft>
                <a:spcPts val="400"/>
              </a:spcAft>
              <a:defRPr sz="850" b="1">
                <a:solidFill>
                  <a:srgbClr val="969696"/>
                </a:solidFill>
                <a:latin typeface="Segoe UI"/>
              </a:defRPr>
            </a:pPr>
            <a:r>
              <a:t>TfIdfClassifier &amp; Corpus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Java TF-IDF vectorizer + Gemini 3.5 Flash maps text into 8 categories (Coding, Reasoning, Writing, Multimodal, etc.).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17320"/>
            <a:ext cx="2542032" cy="1874519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03. Requirement Extraction</a:t>
            </a:r>
          </a:p>
          <a:p>
            <a:pPr>
              <a:spcAft>
                <a:spcPts val="400"/>
              </a:spcAft>
              <a:defRPr sz="850" b="1">
                <a:solidFill>
                  <a:srgbClr val="969696"/>
                </a:solidFill>
                <a:latin typeface="Segoe UI"/>
              </a:defRPr>
            </a:pPr>
            <a:r>
              <a:t>6D Vector Representation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Extracts normalized requirements vector U = [R, C, X, M, S, P] in [0, 1]^6 reflecting task demands.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417320"/>
            <a:ext cx="2542032" cy="1874519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04. Capability Database</a:t>
            </a:r>
          </a:p>
          <a:p>
            <a:pPr>
              <a:spcAft>
                <a:spcPts val="400"/>
              </a:spcAft>
              <a:defRPr sz="850" b="1">
                <a:solidFill>
                  <a:srgbClr val="969696"/>
                </a:solidFill>
                <a:latin typeface="Segoe UI"/>
              </a:defRPr>
            </a:pPr>
            <a:r>
              <a:t>Empirical LLM Profiles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12 frontier LLMs evaluated on verified benchmarks (SWE-bench Verified, MATH-500, MMLU-Pro, Context &amp; Cost).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2542032" cy="1874519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05. Vector Cosine Similarity</a:t>
            </a:r>
          </a:p>
          <a:p>
            <a:pPr>
              <a:spcAft>
                <a:spcPts val="400"/>
              </a:spcAft>
              <a:defRPr sz="850" b="1">
                <a:solidFill>
                  <a:srgbClr val="969696"/>
                </a:solidFill>
                <a:latin typeface="Segoe UI"/>
              </a:defRPr>
            </a:pPr>
            <a:r>
              <a:t>Directional Geometry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Calculates mathematical cosine angle Sim(U, M) = (U · M) / (||U|| ||M||) to find capability alignment.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3474720"/>
            <a:ext cx="2542032" cy="1874519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06. Priority Weighted Utility</a:t>
            </a:r>
          </a:p>
          <a:p>
            <a:pPr>
              <a:spcAft>
                <a:spcPts val="400"/>
              </a:spcAft>
              <a:defRPr sz="850" b="1">
                <a:solidFill>
                  <a:srgbClr val="969696"/>
                </a:solidFill>
                <a:latin typeface="Segoe UI"/>
              </a:defRPr>
            </a:pPr>
            <a:r>
              <a:t>User-Tuned Weights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Calculates weighted multi-criteria utility Score = Σ (w_i * S_i) matching explicit user slider preferences.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474720"/>
            <a:ext cx="2542032" cy="1874519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07. Constraint Multiplier</a:t>
            </a:r>
          </a:p>
          <a:p>
            <a:pPr>
              <a:spcAft>
                <a:spcPts val="400"/>
              </a:spcAft>
              <a:defRPr sz="850" b="1">
                <a:solidFill>
                  <a:srgbClr val="969696"/>
                </a:solidFill>
                <a:latin typeface="Segoe UI"/>
              </a:defRPr>
            </a:pPr>
            <a:r>
              <a:t>Hard Penalty Guardrails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Applies severe penalties for boundary violations (e.g. text-only models penalized if vision is strictly required).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3474720"/>
            <a:ext cx="2542032" cy="1874519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37160"/>
          <a:lstStyle/>
          <a:p>
            <a:pPr algn="ctr">
              <a:defRPr sz="1000" b="1">
                <a:solidFill>
                  <a:srgbClr val="10A37F"/>
                </a:solidFill>
                <a:latin typeface="Segoe UI"/>
              </a:defRPr>
            </a:pPr>
            <a:r>
              <a:t>08. Explainable AI Output</a:t>
            </a:r>
          </a:p>
          <a:p>
            <a:pPr>
              <a:spcAft>
                <a:spcPts val="400"/>
              </a:spcAft>
              <a:defRPr sz="850" b="1">
                <a:solidFill>
                  <a:srgbClr val="969696"/>
                </a:solidFill>
                <a:latin typeface="Segoe UI"/>
              </a:defRPr>
            </a:pPr>
            <a:r>
              <a:t>Ranked Winner + Why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Delivers final score %, strength highlights, potential drawbacks, cost estimate, and ranked alternatives.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32120"/>
            <a:ext cx="10725912" cy="548640"/>
          </a:xfrm>
          <a:prstGeom prst="roundRect">
            <a:avLst/>
          </a:prstGeom>
          <a:solidFill>
            <a:srgbClr val="0E2820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0A37F"/>
                </a:solidFill>
                <a:latin typeface="Segoe UI"/>
              </a:rPr>
              <a:t>KEY ADVANTAGE: Personalized, empirical decision-support instead of static hardcoded heuristics or trial-and-error.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5912" cy="1371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Segoe UI"/>
              </a:defRPr>
            </a:pPr>
            <a:r>
              <a:t>MODELMATCH · AI-POWERED LLM RECOMMENDATION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355080"/>
            <a:ext cx="5056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6E6E"/>
                </a:solidFill>
                <a:latin typeface="Segoe UI"/>
              </a:defRPr>
            </a:pPr>
            <a:r>
              <a:t>GALGOTIAS UNIVERSITY / GUVI PROJECT BOARD REVIEW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274320"/>
          </a:xfrm>
          <a:prstGeom prst="roundRect">
            <a:avLst/>
          </a:prstGeom>
          <a:solidFill>
            <a:srgbClr val="0E2820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/>
          <a:lstStyle/>
          <a:p>
            <a:pPr algn="ctr">
              <a:defRPr sz="950" b="1">
                <a:solidFill>
                  <a:srgbClr val="10A37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411480"/>
            <a:ext cx="121615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969696"/>
                </a:solidFill>
                <a:latin typeface="Segoe UI"/>
              </a:defRPr>
            </a:pPr>
            <a: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Architecture: Decoupled 5-Tier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993392" cy="41148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3716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TIER 1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Presentation Layer</a:t>
            </a:r>
          </a:p>
          <a:p>
            <a:pPr>
              <a:spcAft>
                <a:spcPts val="1000"/>
              </a:spcAft>
              <a:defRPr sz="850">
                <a:solidFill>
                  <a:srgbClr val="969696"/>
                </a:solidFill>
                <a:latin typeface="Segoe UI"/>
              </a:defRPr>
            </a:pPr>
            <a:r>
              <a:t>Client Web Browser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ChatGPT Replica UI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Vanilla HTML5 / Modern CSS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Vanilla ES6 JavaScript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Zero Layout Shift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Preset Sliders &amp; Modals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Token Cost Calculator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371600"/>
            <a:ext cx="1993392" cy="41148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3716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TIER 2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Web &amp; Server Layer</a:t>
            </a:r>
          </a:p>
          <a:p>
            <a:pPr>
              <a:spcAft>
                <a:spcPts val="1000"/>
              </a:spcAft>
              <a:defRPr sz="850">
                <a:solidFill>
                  <a:srgbClr val="969696"/>
                </a:solidFill>
                <a:latin typeface="Segoe UI"/>
              </a:defRPr>
            </a:pPr>
            <a:r>
              <a:t>Java 21 Concurrency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com.modelmatch.server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Embedded HttpServer (8080)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Virtual Threads Executor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Executors.newVirtual...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ApiHandler.java (REST API)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Google Gson Serializer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371600"/>
            <a:ext cx="1993392" cy="41148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37160"/>
          <a:lstStyle/>
          <a:p>
            <a:pPr algn="ctr">
              <a:defRPr sz="900" b="1">
                <a:solidFill>
                  <a:srgbClr val="10A37F"/>
                </a:solidFill>
                <a:latin typeface="Segoe UI"/>
              </a:defRPr>
            </a:pPr>
            <a:r>
              <a:t>TIER 3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NLP &amp; Intelligence</a:t>
            </a:r>
          </a:p>
          <a:p>
            <a:pPr>
              <a:spcAft>
                <a:spcPts val="1000"/>
              </a:spcAft>
              <a:defRPr sz="850">
                <a:solidFill>
                  <a:srgbClr val="969696"/>
                </a:solidFill>
                <a:latin typeface="Segoe UI"/>
              </a:defRPr>
            </a:pPr>
            <a:r>
              <a:t>Text Analysis Engine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TfIdfClassifier.java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TaskCorpus Centroids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8 Task Categories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GeminiService.java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Google Gemini 3.5 Flash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Native java.net.http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371600"/>
            <a:ext cx="1993392" cy="41148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37160"/>
          <a:lstStyle/>
          <a:p>
            <a:pPr algn="ctr">
              <a:defRPr sz="900" b="1">
                <a:solidFill>
                  <a:srgbClr val="10A37F"/>
                </a:solidFill>
                <a:latin typeface="Segoe UI"/>
              </a:defRPr>
            </a:pPr>
            <a:r>
              <a:t>TIER 4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Recommendation Engine</a:t>
            </a:r>
          </a:p>
          <a:p>
            <a:pPr>
              <a:spcAft>
                <a:spcPts val="1000"/>
              </a:spcAft>
              <a:defRPr sz="850">
                <a:solidFill>
                  <a:srgbClr val="969696"/>
                </a:solidFill>
                <a:latin typeface="Segoe UI"/>
              </a:defRPr>
            </a:pPr>
            <a:r>
              <a:t>Vector Math &amp; Scoring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RecommendationEngine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TaskRequirementExtractor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Vector Cosine Similarity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Multi-Criteria Utility (w_i)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Constraint Multipliers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ExplainabilityService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371600"/>
            <a:ext cx="1993392" cy="41148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3716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TIER 5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 &amp; Persistence</a:t>
            </a:r>
          </a:p>
          <a:p>
            <a:pPr>
              <a:spcAft>
                <a:spcPts val="1000"/>
              </a:spcAft>
              <a:defRPr sz="850">
                <a:solidFill>
                  <a:srgbClr val="969696"/>
                </a:solidFill>
                <a:latin typeface="Segoe UI"/>
              </a:defRPr>
            </a:pPr>
            <a:r>
              <a:t>Relational &amp; Repository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ModelDatabase.java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12 Frontier LLMs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Empirical Benchmarks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Relational Schema / DAO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PreparedStatement Pool</a:t>
            </a:r>
          </a:p>
          <a:p>
            <a:pPr>
              <a:spcAft>
                <a:spcPts val="400"/>
              </a:spcAft>
              <a:defRPr sz="950">
                <a:solidFill>
                  <a:srgbClr val="DCDCDC"/>
                </a:solidFill>
                <a:latin typeface="Segoe UI"/>
              </a:defRPr>
            </a:pPr>
            <a:r>
              <a:t>• Query / Telemetry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725912" cy="502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DCDCDC"/>
                </a:solidFill>
                <a:latin typeface="Consolas"/>
              </a:defRPr>
            </a:pPr>
            <a:r>
              <a:t>DATA FLOW:  User Prompt  ──▶  Virtual Thread Server  ──▶  TF-IDF &amp; Gemini NLP  ──▶  Dual-Phase Engine  ──▶  Model DB  ──▶  Ranked Result + XAI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5912" cy="1371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Segoe UI"/>
              </a:defRPr>
            </a:pPr>
            <a:r>
              <a:t>MODELMATCH · AI-POWERED LLM RECOMMENDATION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355080"/>
            <a:ext cx="5056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6E6E"/>
                </a:solidFill>
                <a:latin typeface="Segoe UI"/>
              </a:defRPr>
            </a:pPr>
            <a:r>
              <a:t>GALGOTIAS UNIVERSITY / GUVI PROJECT BOARD REVIEW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274320"/>
          </a:xfrm>
          <a:prstGeom prst="roundRect">
            <a:avLst/>
          </a:prstGeom>
          <a:solidFill>
            <a:srgbClr val="0E2820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/>
          <a:lstStyle/>
          <a:p>
            <a:pPr algn="ctr">
              <a:defRPr sz="950" b="1">
                <a:solidFill>
                  <a:srgbClr val="10A37F"/>
                </a:solidFill>
                <a:latin typeface="Segoe UI"/>
              </a:defRPr>
            </a:pPr>
            <a:r>
              <a:t>DATABASE DESIGN (REVIEW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411480"/>
            <a:ext cx="121615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969696"/>
                </a:solidFill>
                <a:latin typeface="Segoe UI"/>
              </a:defRPr>
            </a:pPr>
            <a: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Database Design: Relational Schema &amp; 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93792" cy="1874519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050" b="1">
                <a:solidFill>
                  <a:srgbClr val="10A37F"/>
                </a:solidFill>
                <a:latin typeface="Consolas"/>
              </a:defRPr>
            </a:pPr>
            <a:r>
              <a:t>TABLE: models</a:t>
            </a:r>
          </a:p>
          <a:p>
            <a:pPr>
              <a:spcAft>
                <a:spcPts val="400"/>
              </a:spcAft>
              <a:defRPr sz="850">
                <a:solidFill>
                  <a:srgbClr val="969696"/>
                </a:solidFill>
                <a:latin typeface="Segoe UI"/>
              </a:defRPr>
            </a:pPr>
            <a:r>
              <a:t>Catalog of Frontier LLMs &amp; Master Specs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model_id </a:t>
            </a:r>
            <a:r>
              <a:rPr sz="800">
                <a:solidFill>
                  <a:srgbClr val="10A37F"/>
                </a:solidFill>
                <a:latin typeface="Segoe UI"/>
              </a:rPr>
              <a:t>[VARCHAR(50) [PK]] </a:t>
            </a:r>
            <a:r>
              <a:rPr sz="800">
                <a:solidFill>
                  <a:srgbClr val="DCDCDC"/>
                </a:solidFill>
                <a:latin typeface="Segoe UI"/>
              </a:rPr>
              <a:t>— Unique slug (e.g. 'claude-3-7-sonnet')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name </a:t>
            </a:r>
            <a:r>
              <a:rPr sz="800">
                <a:solidFill>
                  <a:srgbClr val="10A37F"/>
                </a:solidFill>
                <a:latin typeface="Segoe UI"/>
              </a:rPr>
              <a:t>[VARCHAR(100)] </a:t>
            </a:r>
            <a:r>
              <a:rPr sz="800">
                <a:solidFill>
                  <a:srgbClr val="DCDCDC"/>
                </a:solidFill>
                <a:latin typeface="Segoe UI"/>
              </a:rPr>
              <a:t>— Full commercial model name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provider </a:t>
            </a:r>
            <a:r>
              <a:rPr sz="800">
                <a:solidFill>
                  <a:srgbClr val="10A37F"/>
                </a:solidFill>
                <a:latin typeface="Segoe UI"/>
              </a:rPr>
              <a:t>[VARCHAR(50)] </a:t>
            </a:r>
            <a:r>
              <a:rPr sz="800">
                <a:solidFill>
                  <a:srgbClr val="DCDCDC"/>
                </a:solidFill>
                <a:latin typeface="Segoe UI"/>
              </a:rPr>
              <a:t>— Anthropic / OpenAI / Google / DeepSeek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context_window_tokens </a:t>
            </a:r>
            <a:r>
              <a:rPr sz="800">
                <a:solidFill>
                  <a:srgbClr val="10A37F"/>
                </a:solidFill>
                <a:latin typeface="Segoe UI"/>
              </a:rPr>
              <a:t>[INT] </a:t>
            </a:r>
            <a:r>
              <a:rPr sz="800">
                <a:solidFill>
                  <a:srgbClr val="DCDCDC"/>
                </a:solidFill>
                <a:latin typeface="Segoe UI"/>
              </a:rPr>
              <a:t>— Max context size (128K - 2M tokens)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cost_input_per_m </a:t>
            </a:r>
            <a:r>
              <a:rPr sz="800">
                <a:solidFill>
                  <a:srgbClr val="10A37F"/>
                </a:solidFill>
                <a:latin typeface="Segoe UI"/>
              </a:rPr>
              <a:t>[DECIMAL(10,4)] </a:t>
            </a:r>
            <a:r>
              <a:rPr sz="800">
                <a:solidFill>
                  <a:srgbClr val="DCDCDC"/>
                </a:solidFill>
                <a:latin typeface="Segoe UI"/>
              </a:rPr>
              <a:t>— Dollar pricing per 1M input tokens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cost_output_per_m </a:t>
            </a:r>
            <a:r>
              <a:rPr sz="800">
                <a:solidFill>
                  <a:srgbClr val="10A37F"/>
                </a:solidFill>
                <a:latin typeface="Segoe UI"/>
              </a:rPr>
              <a:t>[DECIMAL(10,4)] </a:t>
            </a:r>
            <a:r>
              <a:rPr sz="800">
                <a:solidFill>
                  <a:srgbClr val="DCDCDC"/>
                </a:solidFill>
                <a:latin typeface="Segoe UI"/>
              </a:rPr>
              <a:t>— Dollar pricing per 1M output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193792" cy="1874519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050" b="1">
                <a:solidFill>
                  <a:srgbClr val="10A37F"/>
                </a:solidFill>
                <a:latin typeface="Consolas"/>
              </a:defRPr>
            </a:pPr>
            <a:r>
              <a:t>TABLE: model_capabilities</a:t>
            </a:r>
          </a:p>
          <a:p>
            <a:pPr>
              <a:spcAft>
                <a:spcPts val="400"/>
              </a:spcAft>
              <a:defRPr sz="850">
                <a:solidFill>
                  <a:srgbClr val="969696"/>
                </a:solidFill>
                <a:latin typeface="Segoe UI"/>
              </a:defRPr>
            </a:pPr>
            <a:r>
              <a:t>6D Normalized Capability Vectors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model_id </a:t>
            </a:r>
            <a:r>
              <a:rPr sz="800">
                <a:solidFill>
                  <a:srgbClr val="10A37F"/>
                </a:solidFill>
                <a:latin typeface="Segoe UI"/>
              </a:rPr>
              <a:t>[VARCHAR(50) [PK, FK]] </a:t>
            </a:r>
            <a:r>
              <a:rPr sz="800">
                <a:solidFill>
                  <a:srgbClr val="DCDCDC"/>
                </a:solidFill>
                <a:latin typeface="Segoe UI"/>
              </a:rPr>
              <a:t>— References models.model_id (1:1 relation)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reasoning_score </a:t>
            </a:r>
            <a:r>
              <a:rPr sz="800">
                <a:solidFill>
                  <a:srgbClr val="10A37F"/>
                </a:solidFill>
                <a:latin typeface="Segoe UI"/>
              </a:rPr>
              <a:t>[DOUBLE (0-100)] </a:t>
            </a:r>
            <a:r>
              <a:rPr sz="800">
                <a:solidFill>
                  <a:srgbClr val="DCDCDC"/>
                </a:solidFill>
                <a:latin typeface="Segoe UI"/>
              </a:rPr>
              <a:t>— Logic, math &amp; multi-step derivation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coding_score </a:t>
            </a:r>
            <a:r>
              <a:rPr sz="800">
                <a:solidFill>
                  <a:srgbClr val="10A37F"/>
                </a:solidFill>
                <a:latin typeface="Segoe UI"/>
              </a:rPr>
              <a:t>[DOUBLE (0-100)] </a:t>
            </a:r>
            <a:r>
              <a:rPr sz="800">
                <a:solidFill>
                  <a:srgbClr val="DCDCDC"/>
                </a:solidFill>
                <a:latin typeface="Segoe UI"/>
              </a:rPr>
              <a:t>— Syntax synthesis &amp; SWE benchmarks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context_score </a:t>
            </a:r>
            <a:r>
              <a:rPr sz="800">
                <a:solidFill>
                  <a:srgbClr val="10A37F"/>
                </a:solidFill>
                <a:latin typeface="Segoe UI"/>
              </a:rPr>
              <a:t>[DOUBLE (0-100)] </a:t>
            </a:r>
            <a:r>
              <a:rPr sz="800">
                <a:solidFill>
                  <a:srgbClr val="DCDCDC"/>
                </a:solidFill>
                <a:latin typeface="Segoe UI"/>
              </a:rPr>
              <a:t>— Long-horizon memory &amp; needle recall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multimodal_score </a:t>
            </a:r>
            <a:r>
              <a:rPr sz="800">
                <a:solidFill>
                  <a:srgbClr val="10A37F"/>
                </a:solidFill>
                <a:latin typeface="Segoe UI"/>
              </a:rPr>
              <a:t>[DOUBLE (0-100)] </a:t>
            </a:r>
            <a:r>
              <a:rPr sz="800">
                <a:solidFill>
                  <a:srgbClr val="DCDCDC"/>
                </a:solidFill>
                <a:latin typeface="Segoe UI"/>
              </a:rPr>
              <a:t>— Vision comprehension &amp; chart parsing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speed_score / cost_score </a:t>
            </a:r>
            <a:r>
              <a:rPr sz="800">
                <a:solidFill>
                  <a:srgbClr val="10A37F"/>
                </a:solidFill>
                <a:latin typeface="Segoe UI"/>
              </a:rPr>
              <a:t>[DOUBLE (0-100)] </a:t>
            </a:r>
            <a:r>
              <a:rPr sz="800">
                <a:solidFill>
                  <a:srgbClr val="DCDCDC"/>
                </a:solidFill>
                <a:latin typeface="Segoe UI"/>
              </a:rPr>
              <a:t>— Throughput speed &amp; cost efficiency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5193792" cy="1874519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050" b="1">
                <a:solidFill>
                  <a:srgbClr val="10A37F"/>
                </a:solidFill>
                <a:latin typeface="Consolas"/>
              </a:defRPr>
            </a:pPr>
            <a:r>
              <a:t>TABLE: model_benchmarks</a:t>
            </a:r>
          </a:p>
          <a:p>
            <a:pPr>
              <a:spcAft>
                <a:spcPts val="400"/>
              </a:spcAft>
              <a:defRPr sz="850">
                <a:solidFill>
                  <a:srgbClr val="969696"/>
                </a:solidFill>
                <a:latin typeface="Segoe UI"/>
              </a:defRPr>
            </a:pPr>
            <a:r>
              <a:t>Verified Ground-Truth Performance Citations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benchmark_id </a:t>
            </a:r>
            <a:r>
              <a:rPr sz="800">
                <a:solidFill>
                  <a:srgbClr val="10A37F"/>
                </a:solidFill>
                <a:latin typeface="Segoe UI"/>
              </a:rPr>
              <a:t>[INT AUTO_INCREMENT [PK]] </a:t>
            </a:r>
            <a:r>
              <a:rPr sz="800">
                <a:solidFill>
                  <a:srgbClr val="DCDCDC"/>
                </a:solidFill>
                <a:latin typeface="Segoe UI"/>
              </a:rPr>
              <a:t>— Primary identifier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model_id </a:t>
            </a:r>
            <a:r>
              <a:rPr sz="800">
                <a:solidFill>
                  <a:srgbClr val="10A37F"/>
                </a:solidFill>
                <a:latin typeface="Segoe UI"/>
              </a:rPr>
              <a:t>[VARCHAR(50) [FK]] </a:t>
            </a:r>
            <a:r>
              <a:rPr sz="800">
                <a:solidFill>
                  <a:srgbClr val="DCDCDC"/>
                </a:solidFill>
                <a:latin typeface="Segoe UI"/>
              </a:rPr>
              <a:t>— References models.model_id (1:N relation)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metric_name </a:t>
            </a:r>
            <a:r>
              <a:rPr sz="800">
                <a:solidFill>
                  <a:srgbClr val="10A37F"/>
                </a:solidFill>
                <a:latin typeface="Segoe UI"/>
              </a:rPr>
              <a:t>[VARCHAR(50)] </a:t>
            </a:r>
            <a:r>
              <a:rPr sz="800">
                <a:solidFill>
                  <a:srgbClr val="DCDCDC"/>
                </a:solidFill>
                <a:latin typeface="Segoe UI"/>
              </a:rPr>
              <a:t>— SWE-bench Verified, MATH-500, MMLU-Pro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score_value </a:t>
            </a:r>
            <a:r>
              <a:rPr sz="800">
                <a:solidFill>
                  <a:srgbClr val="10A37F"/>
                </a:solidFill>
                <a:latin typeface="Segoe UI"/>
              </a:rPr>
              <a:t>[VARCHAR(50)] </a:t>
            </a:r>
            <a:r>
              <a:rPr sz="800">
                <a:solidFill>
                  <a:srgbClr val="DCDCDC"/>
                </a:solidFill>
                <a:latin typeface="Segoe UI"/>
              </a:rPr>
              <a:t>— Empirical benchmark percentage or Elo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source_citation </a:t>
            </a:r>
            <a:r>
              <a:rPr sz="800">
                <a:solidFill>
                  <a:srgbClr val="10A37F"/>
                </a:solidFill>
                <a:latin typeface="Segoe UI"/>
              </a:rPr>
              <a:t>[VARCHAR(255)] </a:t>
            </a:r>
            <a:r>
              <a:rPr sz="800">
                <a:solidFill>
                  <a:srgbClr val="DCDCDC"/>
                </a:solidFill>
                <a:latin typeface="Segoe UI"/>
              </a:rPr>
              <a:t>— Official research paper or public test suite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429000"/>
            <a:ext cx="5193792" cy="1874519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050" b="1">
                <a:solidFill>
                  <a:srgbClr val="10A37F"/>
                </a:solidFill>
                <a:latin typeface="Consolas"/>
              </a:defRPr>
            </a:pPr>
            <a:r>
              <a:t>TABLE: recommendation_logs</a:t>
            </a:r>
          </a:p>
          <a:p>
            <a:pPr>
              <a:spcAft>
                <a:spcPts val="400"/>
              </a:spcAft>
              <a:defRPr sz="850">
                <a:solidFill>
                  <a:srgbClr val="969696"/>
                </a:solidFill>
                <a:latin typeface="Segoe UI"/>
              </a:defRPr>
            </a:pPr>
            <a:r>
              <a:t>Query Telemetry &amp; Match History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query_id </a:t>
            </a:r>
            <a:r>
              <a:rPr sz="800">
                <a:solidFill>
                  <a:srgbClr val="10A37F"/>
                </a:solidFill>
                <a:latin typeface="Segoe UI"/>
              </a:rPr>
              <a:t>[VARCHAR(36) [PK]] </a:t>
            </a:r>
            <a:r>
              <a:rPr sz="800">
                <a:solidFill>
                  <a:srgbClr val="DCDCDC"/>
                </a:solidFill>
                <a:latin typeface="Segoe UI"/>
              </a:rPr>
              <a:t>— UUID v4 for user transaction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prompt_text </a:t>
            </a:r>
            <a:r>
              <a:rPr sz="800">
                <a:solidFill>
                  <a:srgbClr val="10A37F"/>
                </a:solidFill>
                <a:latin typeface="Segoe UI"/>
              </a:rPr>
              <a:t>[TEXT] </a:t>
            </a:r>
            <a:r>
              <a:rPr sz="800">
                <a:solidFill>
                  <a:srgbClr val="DCDCDC"/>
                </a:solidFill>
                <a:latin typeface="Segoe UI"/>
              </a:rPr>
              <a:t>— User's natural language input string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detected_category </a:t>
            </a:r>
            <a:r>
              <a:rPr sz="800">
                <a:solidFill>
                  <a:srgbClr val="10A37F"/>
                </a:solidFill>
                <a:latin typeface="Segoe UI"/>
              </a:rPr>
              <a:t>[VARCHAR(50)] </a:t>
            </a:r>
            <a:r>
              <a:rPr sz="800">
                <a:solidFill>
                  <a:srgbClr val="DCDCDC"/>
                </a:solidFill>
                <a:latin typeface="Segoe UI"/>
              </a:rPr>
              <a:t>— Predicted category (Coding, Reasoning, etc.)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top_model_id </a:t>
            </a:r>
            <a:r>
              <a:rPr sz="800">
                <a:solidFill>
                  <a:srgbClr val="10A37F"/>
                </a:solidFill>
                <a:latin typeface="Segoe UI"/>
              </a:rPr>
              <a:t>[VARCHAR(50) [FK]] </a:t>
            </a:r>
            <a:r>
              <a:rPr sz="800">
                <a:solidFill>
                  <a:srgbClr val="DCDCDC"/>
                </a:solidFill>
                <a:latin typeface="Segoe UI"/>
              </a:rPr>
              <a:t>— References models.model_id of top winner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match_score </a:t>
            </a:r>
            <a:r>
              <a:rPr sz="800">
                <a:solidFill>
                  <a:srgbClr val="10A37F"/>
                </a:solidFill>
                <a:latin typeface="Segoe UI"/>
              </a:rPr>
              <a:t>[DOUBLE] </a:t>
            </a:r>
            <a:r>
              <a:rPr sz="800">
                <a:solidFill>
                  <a:srgbClr val="DCDCDC"/>
                </a:solidFill>
                <a:latin typeface="Segoe UI"/>
              </a:rPr>
              <a:t>— Final synthesized match percentage (0-100)</a:t>
            </a:r>
          </a:p>
          <a:p>
            <a:r>
              <a:rPr sz="850" b="1">
                <a:solidFill>
                  <a:srgbClr val="FFFFFF"/>
                </a:solidFill>
                <a:latin typeface="Consolas"/>
              </a:rPr>
              <a:t>created_at </a:t>
            </a:r>
            <a:r>
              <a:rPr sz="800">
                <a:solidFill>
                  <a:srgbClr val="10A37F"/>
                </a:solidFill>
                <a:latin typeface="Segoe UI"/>
              </a:rPr>
              <a:t>[TIMESTAMP] </a:t>
            </a:r>
            <a:r>
              <a:rPr sz="800">
                <a:solidFill>
                  <a:srgbClr val="DCDCDC"/>
                </a:solidFill>
                <a:latin typeface="Segoe UI"/>
              </a:rPr>
              <a:t>— Audit trail &amp; timestamp of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5912" cy="594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0A37F"/>
                </a:solidFill>
              </a:rPr>
              <a:t>DATABASE INTEGRATION: </a:t>
            </a:r>
            <a:r>
              <a:rPr sz="1100">
                <a:solidFill>
                  <a:srgbClr val="FFFFFF"/>
                </a:solidFill>
              </a:rPr>
              <a:t>“Structured model metadata and normalized benchmark vectors enable deterministic, data-driven recommendations.”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5912" cy="1371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Segoe UI"/>
              </a:defRPr>
            </a:pPr>
            <a:r>
              <a:t>MODELMATCH · AI-POWERED LLM RECOMMENDATION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355080"/>
            <a:ext cx="5056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6E6E"/>
                </a:solidFill>
                <a:latin typeface="Segoe UI"/>
              </a:defRPr>
            </a:pPr>
            <a:r>
              <a:t>GALGOTIAS UNIVERSITY / GUVI PROJECT BOARD REVIEW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274320"/>
          </a:xfrm>
          <a:prstGeom prst="roundRect">
            <a:avLst/>
          </a:prstGeom>
          <a:solidFill>
            <a:srgbClr val="0E2820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/>
          <a:lstStyle/>
          <a:p>
            <a:pPr algn="ctr">
              <a:defRPr sz="950" b="1">
                <a:solidFill>
                  <a:srgbClr val="10A37F"/>
                </a:solidFill>
                <a:latin typeface="Segoe UI"/>
              </a:defRPr>
            </a:pPr>
            <a:r>
              <a:t>JAVA BACKEND &amp; JDBC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411480"/>
            <a:ext cx="121615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969696"/>
                </a:solidFill>
                <a:latin typeface="Segoe UI"/>
              </a:defRPr>
            </a:pPr>
            <a: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Java Backend Architecture &amp; Database Connectivity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39319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Core Java Concepts in Project Code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Segoe UI"/>
              </a:rPr>
              <a:t>• Java 21 Virtual Threads: </a:t>
            </a:r>
            <a:r>
              <a:rPr sz="1000">
                <a:solidFill>
                  <a:srgbClr val="DCDCDC"/>
                </a:solidFill>
                <a:latin typeface="Segoe UI"/>
              </a:rPr>
              <a:t>Executors.newVirtualThreadPerTaskExecutor() provides ultra-lightweight async concurrency for high-load REST handlers.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Segoe UI"/>
              </a:rPr>
              <a:t>• OOP &amp; Encapsulation: </a:t>
            </a:r>
            <a:r>
              <a:rPr sz="1000">
                <a:solidFill>
                  <a:srgbClr val="DCDCDC"/>
                </a:solidFill>
                <a:latin typeface="Segoe UI"/>
              </a:rPr>
              <a:t>Immutable records and domain models (ModelEntity, TaskRequirements, PriorityWeights) enforce strict encapsulation.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Segoe UI"/>
              </a:rPr>
              <a:t>• Collections &amp; Generics: </a:t>
            </a:r>
            <a:r>
              <a:rPr sz="1000">
                <a:solidFill>
                  <a:srgbClr val="DCDCDC"/>
                </a:solidFill>
                <a:latin typeface="Segoe UI"/>
              </a:rPr>
              <a:t>ConcurrentHashMap&lt;String, ModelEntity&gt;, EnumMap&lt;TaskCategory, double[]&gt;, and generic Stream pipelines for thread-safe access.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Segoe UI"/>
              </a:rPr>
              <a:t>• Defensive Error Handling: </a:t>
            </a:r>
            <a:r>
              <a:rPr sz="1000">
                <a:solidFill>
                  <a:srgbClr val="DCDCDC"/>
                </a:solidFill>
                <a:latin typeface="Segoe UI"/>
              </a:rPr>
              <a:t>Multi-tier fallback architecture: if external Gemini API is unreachable, local TF-IDF classifier ensures 100% continuous uptime.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Segoe UI"/>
              </a:rPr>
              <a:t>• Modular Layering: </a:t>
            </a:r>
            <a:r>
              <a:rPr sz="1000">
                <a:solidFill>
                  <a:srgbClr val="DCDCDC"/>
                </a:solidFill>
                <a:latin typeface="Segoe UI"/>
              </a:rPr>
              <a:t>Clean separation into controller, engine, classifier, service, repository, and server packages.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2392" cy="39319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5087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Database Connectivity Architecture (DAO Pattern)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65960"/>
            <a:ext cx="4873752" cy="56692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950" b="1">
                <a:solidFill>
                  <a:srgbClr val="10A37F"/>
                </a:solidFill>
                <a:latin typeface="Consolas"/>
              </a:defRPr>
            </a:pPr>
            <a:r>
              <a:t>1. HTTP Controller (ApiHandler)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Receives incoming JSON payload &amp; extracts query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33472"/>
            <a:ext cx="4873752" cy="56692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950" b="1">
                <a:solidFill>
                  <a:srgbClr val="10A37F"/>
                </a:solidFill>
                <a:latin typeface="Consolas"/>
              </a:defRPr>
            </a:pPr>
            <a:r>
              <a:t>2. RecommendationService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Applies business logic &amp; coordinates ranking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300984"/>
            <a:ext cx="4873752" cy="56692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950" b="1">
                <a:solidFill>
                  <a:srgbClr val="10A37F"/>
                </a:solidFill>
                <a:latin typeface="Consolas"/>
              </a:defRPr>
            </a:pPr>
            <a:r>
              <a:t>3. ModelDAO / Repository Interface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Abstract Data Access Object isolating persistence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68496"/>
            <a:ext cx="4873752" cy="56692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950" b="1">
                <a:solidFill>
                  <a:srgbClr val="10A37F"/>
                </a:solidFill>
                <a:latin typeface="Consolas"/>
              </a:defRPr>
            </a:pPr>
            <a:r>
              <a:t>4. JDBC Connection &amp; PreparedStatement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Parameterized SQL execution with SQL-injection immunity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636008"/>
            <a:ext cx="4873752" cy="56692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950" b="1">
                <a:solidFill>
                  <a:srgbClr val="10A37F"/>
                </a:solidFill>
                <a:latin typeface="Consolas"/>
              </a:defRPr>
            </a:pPr>
            <a:r>
              <a:t>5. Relational Database / In-Memory Seed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Atomic transaction persistence &amp; concurrent thread read-safety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5912" cy="594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0A37F"/>
                </a:solidFill>
              </a:rPr>
              <a:t>JAVA RUBRIC ALIGNMENT: </a:t>
            </a:r>
            <a:r>
              <a:rPr sz="1100">
                <a:solidFill>
                  <a:srgbClr val="FFFFFF"/>
                </a:solidFill>
              </a:rPr>
              <a:t>Pure Java 21 implementation with zero bloated external web frameworks — showcasing raw Core Java mastery.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309360"/>
            <a:ext cx="10725912" cy="1371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Segoe UI"/>
              </a:defRPr>
            </a:pPr>
            <a:r>
              <a:t>MODELMATCH · AI-POWERED LLM RECOMMENDATION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355080"/>
            <a:ext cx="5056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6E6E"/>
                </a:solidFill>
                <a:latin typeface="Segoe UI"/>
              </a:defRPr>
            </a:pPr>
            <a:r>
              <a:t>GALGOTIAS UNIVERSITY / GUVI PROJECT BOARD REVIEW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274320"/>
          </a:xfrm>
          <a:prstGeom prst="roundRect">
            <a:avLst/>
          </a:prstGeom>
          <a:solidFill>
            <a:srgbClr val="0E2820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/>
          <a:lstStyle/>
          <a:p>
            <a:pPr algn="ctr">
              <a:defRPr sz="950" b="1">
                <a:solidFill>
                  <a:srgbClr val="10A37F"/>
                </a:solidFill>
                <a:latin typeface="Segoe UI"/>
              </a:defRPr>
            </a:pPr>
            <a:r>
              <a:t>RECOMMENDATION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411480"/>
            <a:ext cx="121615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969696"/>
                </a:solidFill>
                <a:latin typeface="Segoe UI"/>
              </a:defRPr>
            </a:pPr>
            <a: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Recommendation Engine: Mathematical &amp; Algorithmic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39319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Dual-Phase Mathematical Formulations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0A37F"/>
                </a:solidFill>
                <a:latin typeface="Segoe UI"/>
              </a:rPr>
              <a:t>1. Vector Cosine Similarity in R^6
</a:t>
            </a:r>
            <a:r>
              <a:rPr sz="900">
                <a:solidFill>
                  <a:srgbClr val="DCDCDC"/>
                </a:solidFill>
                <a:latin typeface="Consolas"/>
              </a:rPr>
              <a:t>Sim(U, M) = (U · M) / (||U|| · ||M||) = Σ(u_i · m_i) / [sqrt(Σ u_i^2) · sqrt(Σ m_i^2)]
Measures orientation alignment between user task vector U and model vector M.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0A37F"/>
                </a:solidFill>
                <a:latin typeface="Segoe UI"/>
              </a:rPr>
              <a:t>2. Multi-Criteria Weighted Utility Scoring
</a:t>
            </a:r>
            <a:r>
              <a:rPr sz="900">
                <a:solidFill>
                  <a:srgbClr val="DCDCDC"/>
                </a:solidFill>
                <a:latin typeface="Consolas"/>
              </a:rPr>
              <a:t>Score = w_r·R + w_c·C + w_x·X + w_m·M + w_s·S + w_p·P
Normalized user slider weights (Σ w_i = 1.0) applied to Reasoning, Coding, Context, Vision, Speed, and Cost.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0A37F"/>
                </a:solidFill>
                <a:latin typeface="Segoe UI"/>
              </a:rPr>
              <a:t>3. Constraint Multipliers (Φ)
</a:t>
            </a:r>
            <a:r>
              <a:rPr sz="900">
                <a:solidFill>
                  <a:srgbClr val="DCDCDC"/>
                </a:solidFill>
                <a:latin typeface="Consolas"/>
              </a:rPr>
              <a:t>Φ_vision = 0.65 if task requires multimodal but model is text-only.
Φ_context = 0.85 if task demands &gt;200K tokens and model context &lt; 200K.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0A37F"/>
                </a:solidFill>
                <a:latin typeface="Segoe UI"/>
              </a:rPr>
              <a:t>4. Hybrid Synthesis Final Ranking
</a:t>
            </a:r>
            <a:r>
              <a:rPr sz="900">
                <a:solidFill>
                  <a:srgbClr val="DCDCDC"/>
                </a:solidFill>
                <a:latin typeface="Consolas"/>
              </a:rPr>
              <a:t>FinalScore = [ 0.50 × WeightedScore + 0.50 × (CosineSim × 100) ] × Φ
Blends geometric similarity with personalized utility priorities.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2392" cy="39319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5087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Algorithmic Trace (Actual Application Output)</a:t>
            </a:r>
          </a:p>
          <a:p>
            <a:pPr>
              <a:spcAft>
                <a:spcPts val="800"/>
              </a:spcAft>
              <a:defRPr sz="1000" i="1">
                <a:solidFill>
                  <a:srgbClr val="DCDCDC"/>
                </a:solidFill>
                <a:latin typeface="Segoe UI"/>
              </a:defRPr>
            </a:pPr>
            <a:r>
              <a:t>Task: 'Production REST API with complex reasoning, high code volume, 1M context, tight budget'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40280"/>
            <a:ext cx="4965192" cy="65836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000" b="1">
                <a:solidFill>
                  <a:srgbClr val="10A37F"/>
                </a:solidFill>
                <a:latin typeface="Segoe UI"/>
              </a:rPr>
              <a:t>#1 CLAUDE 3.7 SONNET  </a:t>
            </a:r>
            <a:r>
              <a:rPr sz="850">
                <a:solidFill>
                  <a:srgbClr val="969696"/>
                </a:solidFill>
                <a:latin typeface="Consolas"/>
              </a:rPr>
              <a:t>Score: 92.7% | Cosine: 0.948 | Weighted: 90.6%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Rank 1 Winner: Industry-leading SWE-bench Verified (70.3%) and dual-mode reasoning.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990088"/>
            <a:ext cx="4965192" cy="65836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#2 DEEPSEEK R1  </a:t>
            </a:r>
            <a:r>
              <a:rPr sz="850">
                <a:solidFill>
                  <a:srgbClr val="969696"/>
                </a:solidFill>
                <a:latin typeface="Consolas"/>
              </a:rPr>
              <a:t>Score: 89.4% | Cosine: 0.912 | Weighted: 87.6%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Strong open reasoning, MATH-500 champion (97.3%) with ultra-low token inference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739896"/>
            <a:ext cx="4965192" cy="65836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#3 GEMINI 3.5 FLASH  </a:t>
            </a:r>
            <a:r>
              <a:rPr sz="850">
                <a:solidFill>
                  <a:srgbClr val="969696"/>
                </a:solidFill>
                <a:latin typeface="Consolas"/>
              </a:rPr>
              <a:t>Score: 87.2% | Cosine: 0.895 | Weighted: 84.9%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Unbeatable 1M token context capacity, 150 tok/s speed, and free tier accessibility.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489704"/>
            <a:ext cx="4965192" cy="65836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#4 QWEN 2.5 CODER 32B  </a:t>
            </a:r>
            <a:r>
              <a:rPr sz="850">
                <a:solidFill>
                  <a:srgbClr val="969696"/>
                </a:solidFill>
                <a:latin typeface="Consolas"/>
              </a:rPr>
              <a:t>Score: 85.0% | Cosine: 0.880 | Weighted: 82.0%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Specialized code synthesis (EvalPlus 88.4), privately hostable open weights.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725912" cy="594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KEY TAKEAWAY: The algorithm eliminates bias by combining geometrical vector cosine similarity with multi-criteria preference utility.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5912" cy="1371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Segoe UI"/>
              </a:defRPr>
            </a:pPr>
            <a:r>
              <a:t>MODELMATCH · AI-POWERED LLM RECOMMENDATION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355080"/>
            <a:ext cx="5056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6E6E"/>
                </a:solidFill>
                <a:latin typeface="Segoe UI"/>
              </a:defRPr>
            </a:pPr>
            <a:r>
              <a:t>GALGOTIAS UNIVERSITY / GUVI PROJECT BOARD REVIEW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274320"/>
          </a:xfrm>
          <a:prstGeom prst="roundRect">
            <a:avLst/>
          </a:prstGeom>
          <a:solidFill>
            <a:srgbClr val="0E2820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/>
          <a:lstStyle/>
          <a:p>
            <a:pPr algn="ctr">
              <a:defRPr sz="950" b="1">
                <a:solidFill>
                  <a:srgbClr val="10A37F"/>
                </a:solidFill>
                <a:latin typeface="Segoe UI"/>
              </a:defRPr>
            </a:pPr>
            <a:r>
              <a:t>USER INTERFACE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411480"/>
            <a:ext cx="121615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969696"/>
                </a:solidFill>
                <a:latin typeface="Segoe UI"/>
              </a:defRPr>
            </a:pPr>
            <a: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ModelMatch User Experience: Live Working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542032" cy="3886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m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490472"/>
            <a:ext cx="2395728" cy="2779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4343400"/>
            <a:ext cx="2322576" cy="9601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defRPr sz="1050" b="1">
                <a:solidFill>
                  <a:srgbClr val="10A37F"/>
                </a:solidFill>
                <a:latin typeface="Segoe UI"/>
              </a:defRPr>
            </a:pPr>
            <a:r>
              <a:t>1. Describe Your Task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ChatGPT replica interface with zero layout shift, instant prompt input &amp; suggestion chips.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17320"/>
            <a:ext cx="2542032" cy="3886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eights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1490472"/>
            <a:ext cx="2395728" cy="2779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6160" y="4343400"/>
            <a:ext cx="2322576" cy="9601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defRPr sz="1050" b="1">
                <a:solidFill>
                  <a:srgbClr val="10A37F"/>
                </a:solidFill>
                <a:latin typeface="Segoe UI"/>
              </a:defRPr>
            </a:pPr>
            <a:r>
              <a:t>2. Priority Tuning Sliders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6 normalized sliders (Reasoning, Coding, Context, Vision, Speed, Cost) &amp; 1-click presets.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17320"/>
            <a:ext cx="2542032" cy="3886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commendation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490472"/>
            <a:ext cx="2395728" cy="27797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91072" y="4343400"/>
            <a:ext cx="2322576" cy="9601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defRPr sz="1050" b="1">
                <a:solidFill>
                  <a:srgbClr val="10A37F"/>
                </a:solidFill>
                <a:latin typeface="Segoe UI"/>
              </a:defRPr>
            </a:pPr>
            <a:r>
              <a:t>3. Ranked Winner &amp; XAI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Top match winner card with percentage score, 6D radar metrics, and token cost breakdown.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417320"/>
            <a:ext cx="2542032" cy="3886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enchmark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1490472"/>
            <a:ext cx="2395728" cy="27797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15984" y="4343400"/>
            <a:ext cx="2322576" cy="9601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defRPr sz="1050" b="1">
                <a:solidFill>
                  <a:srgbClr val="10A37F"/>
                </a:solidFill>
                <a:latin typeface="Segoe UI"/>
              </a:defRPr>
            </a:pPr>
            <a:r>
              <a:t>4. Empirical Matrix Modal</a:t>
            </a:r>
          </a:p>
          <a:p>
            <a:pPr>
              <a:defRPr sz="850">
                <a:solidFill>
                  <a:srgbClr val="DCDCDC"/>
                </a:solidFill>
                <a:latin typeface="Segoe UI"/>
              </a:defRPr>
            </a:pPr>
            <a:r>
              <a:t>Transparent database matrix citing SWE-bench, MATH-500, and MMLU-Pro for all 12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86400"/>
            <a:ext cx="10725912" cy="5943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FRONTEND HIGHLIGHT: 100% Native HTML5/CSS/JS with zero external heavy UI frameworks — achieving 99+ Lighthouse performance.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309360"/>
            <a:ext cx="10725912" cy="1371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Segoe UI"/>
              </a:defRPr>
            </a:pPr>
            <a:r>
              <a:t>MODELMATCH · AI-POWERED LLM RECOMMENDATION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355080"/>
            <a:ext cx="5056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6E6E"/>
                </a:solidFill>
                <a:latin typeface="Segoe UI"/>
              </a:defRPr>
            </a:pPr>
            <a:r>
              <a:t>GALGOTIAS UNIVERSITY / GUVI PROJECT BOARD REVIEW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274320"/>
          </a:xfrm>
          <a:prstGeom prst="roundRect">
            <a:avLst/>
          </a:prstGeom>
          <a:solidFill>
            <a:srgbClr val="0E2820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/>
          <a:lstStyle/>
          <a:p>
            <a:pPr algn="ctr">
              <a:defRPr sz="950" b="1">
                <a:solidFill>
                  <a:srgbClr val="10A37F"/>
                </a:solidFill>
                <a:latin typeface="Segoe UI"/>
              </a:defRPr>
            </a:pPr>
            <a:r>
              <a:t>RESULTS &amp;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411480"/>
            <a:ext cx="121615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969696"/>
                </a:solidFill>
                <a:latin typeface="Segoe UI"/>
              </a:defRPr>
            </a:pPr>
            <a: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From Task → Recommendation: End-to-End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42032" cy="39319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64592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STAGE 1: INPUT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User Task Prompt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The user submits a complex real-world request:</a:t>
            </a:r>
            <a:br/>
            <a:br/>
            <a:r>
              <a:t>“I need to build an enterprise microservices backend in Java with complex business logic, async messaging, and low cloud compute cost.”</a:t>
            </a:r>
            <a:br/>
            <a:br/>
            <a:r>
              <a:t>• No technical keywords forced</a:t>
            </a:r>
            <a:br/>
            <a:r>
              <a:t>• Raw natural language format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42032" cy="39319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64592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STAGE 2: ANALYSIS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Feature Extraction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The NLP Layer &amp; TfIdfClassifier analyze requirements:</a:t>
            </a:r>
            <a:br/>
            <a:br/>
            <a:r>
              <a:t>• Category: Software Dev &amp; Coding</a:t>
            </a:r>
            <a:br/>
            <a:r>
              <a:t>• Reasoning Demand: 0.90 / 1.0</a:t>
            </a:r>
            <a:br/>
            <a:r>
              <a:t>• Coding Demand: 0.95 / 1.0</a:t>
            </a:r>
            <a:br/>
            <a:r>
              <a:t>• Context Window: 0.70 / 1.0</a:t>
            </a:r>
            <a:br/>
            <a:r>
              <a:t>• Multimodal Demand: 0.20 / 1.0</a:t>
            </a:r>
            <a:br/>
            <a:r>
              <a:t>• Cost Sensitivity: 0.85 / 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371600"/>
            <a:ext cx="2542032" cy="39319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64592"/>
          <a:lstStyle/>
          <a:p>
            <a:pPr algn="ctr">
              <a:defRPr sz="900" b="1">
                <a:solidFill>
                  <a:srgbClr val="10A37F"/>
                </a:solidFill>
                <a:latin typeface="Segoe UI"/>
              </a:defRPr>
            </a:pPr>
            <a:r>
              <a:t>STAGE 3: RANKING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Leaderboard Output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Engine computes hybrid scores across 12 models:</a:t>
            </a:r>
            <a:br/>
            <a:br/>
            <a:r>
              <a:t>#1 Claude 3.7 Sonnet — 94.2%</a:t>
            </a:r>
            <a:br/>
            <a:r>
              <a:t>   SWE-bench Verified (70.3%)</a:t>
            </a:r>
            <a:br/>
            <a:br/>
            <a:r>
              <a:t>#2 Qwen 2.5 Coder 32B — 89.1%</a:t>
            </a:r>
            <a:br/>
            <a:r>
              <a:t>   Open-source code champion</a:t>
            </a:r>
            <a:br/>
            <a:br/>
            <a:r>
              <a:t>#3 Gemini 3.5 Flash — 88.5%</a:t>
            </a:r>
            <a:br/>
            <a:r>
              <a:t>   Fastest speed, 1M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371600"/>
            <a:ext cx="2542032" cy="39319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64592"/>
          <a:lstStyle/>
          <a:p>
            <a:pPr algn="ctr">
              <a:defRPr sz="900" b="1">
                <a:solidFill>
                  <a:srgbClr val="10A37F"/>
                </a:solidFill>
                <a:latin typeface="Segoe UI"/>
              </a:defRPr>
            </a:pPr>
            <a:r>
              <a:t>STAGE 4: EXPLAINABILITY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Why This Model?</a:t>
            </a:r>
          </a:p>
          <a:p>
            <a:pPr>
              <a:defRPr sz="950">
                <a:solidFill>
                  <a:srgbClr val="DCDCDC"/>
                </a:solidFill>
                <a:latin typeface="Segoe UI"/>
              </a:defRPr>
            </a:pPr>
            <a:r>
              <a:t>ModelMatch generates transparent rationale:</a:t>
            </a:r>
            <a:br/>
            <a:br/>
            <a:r>
              <a:t>✓ Why Chosen:</a:t>
            </a:r>
            <a:br/>
            <a:r>
              <a:t>Industry-leading SWE-bench score &amp; superior architectural refactoring.</a:t>
            </a:r>
            <a:br/>
            <a:br/>
            <a:r>
              <a:t>⚠ Trade-off Notice:</a:t>
            </a:r>
            <a:br/>
            <a:r>
              <a:t>Premium token cost; Qwen 2.5 recommended as low-budget fallback.</a:t>
            </a:r>
            <a:br/>
            <a:br/>
            <a:r>
              <a:t>• Estimated Cost: $0.045 /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5912" cy="594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CORE DISTINCTION: “ModelMatch does not only recommend an AI model—it explains the recommendation mathematically and transparently.”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5912" cy="1371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Segoe UI"/>
              </a:defRPr>
            </a:pPr>
            <a:r>
              <a:t>MODELMATCH · AI-POWERED LLM RECOMMENDATION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355080"/>
            <a:ext cx="5056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6E6E"/>
                </a:solidFill>
                <a:latin typeface="Segoe UI"/>
              </a:defRPr>
            </a:pPr>
            <a:r>
              <a:t>GALGOTIAS UNIVERSITY / GUVI PROJECT BOARD REVIEW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926080" cy="274320"/>
          </a:xfrm>
          <a:prstGeom prst="roundRect">
            <a:avLst/>
          </a:prstGeom>
          <a:solidFill>
            <a:srgbClr val="0E2820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0"/>
          <a:lstStyle/>
          <a:p>
            <a:pPr algn="ctr">
              <a:defRPr sz="950" b="1">
                <a:solidFill>
                  <a:srgbClr val="10A37F"/>
                </a:solidFill>
                <a:latin typeface="Segoe UI"/>
              </a:defRPr>
            </a:pPr>
            <a:r>
              <a:t>CONCLUSION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0" y="411480"/>
            <a:ext cx="121615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969696"/>
                </a:solidFill>
                <a:latin typeface="Segoe UI"/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Conclusion &amp; Future Scope: The Road Ahead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39319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Review 1 Accomplishments &amp; Summary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A37F"/>
                </a:solidFill>
                <a:latin typeface="Segoe UI"/>
              </a:rPr>
              <a:t>✓ Automated NLP Vectorization: </a:t>
            </a:r>
            <a:r>
              <a:rPr sz="950">
                <a:solidFill>
                  <a:srgbClr val="DCDCDC"/>
                </a:solidFill>
                <a:latin typeface="Segoe UI"/>
              </a:rPr>
              <a:t>Successfully converts unstructured natural language into structured 6D mathematical requirement vectors.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A37F"/>
                </a:solidFill>
                <a:latin typeface="Segoe UI"/>
              </a:rPr>
              <a:t>✓ Empirical Benchmark Grounding: </a:t>
            </a:r>
            <a:r>
              <a:rPr sz="950">
                <a:solidFill>
                  <a:srgbClr val="DCDCDC"/>
                </a:solidFill>
                <a:latin typeface="Segoe UI"/>
              </a:rPr>
              <a:t>Replaces marketing hype with verified test scores (SWE-bench, MATH-500, MMLU-Pro).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A37F"/>
                </a:solidFill>
                <a:latin typeface="Segoe UI"/>
              </a:rPr>
              <a:t>✓ Dual-Phase Hybrid Engine: </a:t>
            </a:r>
            <a:r>
              <a:rPr sz="950">
                <a:solidFill>
                  <a:srgbClr val="DCDCDC"/>
                </a:solidFill>
                <a:latin typeface="Segoe UI"/>
              </a:rPr>
              <a:t>Combines Cosine Angle Similarity with Multi-Criteria Utility preference scoring.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A37F"/>
                </a:solidFill>
                <a:latin typeface="Segoe UI"/>
              </a:rPr>
              <a:t>✓ Transparent Explainability: </a:t>
            </a:r>
            <a:r>
              <a:rPr sz="950">
                <a:solidFill>
                  <a:srgbClr val="DCDCDC"/>
                </a:solidFill>
                <a:latin typeface="Segoe UI"/>
              </a:rPr>
              <a:t>Provides match percentages, strength highlights, drawback notices, and query token pricing.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A37F"/>
                </a:solidFill>
                <a:latin typeface="Segoe UI"/>
              </a:rPr>
              <a:t>✓ High-Performance Java 21: </a:t>
            </a:r>
            <a:r>
              <a:rPr sz="950">
                <a:solidFill>
                  <a:srgbClr val="DCDCDC"/>
                </a:solidFill>
                <a:latin typeface="Segoe UI"/>
              </a:rPr>
              <a:t>Fully implemented with Virtual Threads concurrency, OOP encapsulation, and zero bloat.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10A37F"/>
                </a:solidFill>
                <a:latin typeface="Segoe UI"/>
              </a:rPr>
              <a:t>✓ ChatGPT Replica UI: </a:t>
            </a:r>
            <a:r>
              <a:rPr sz="950">
                <a:solidFill>
                  <a:srgbClr val="DCDCDC"/>
                </a:solidFill>
                <a:latin typeface="Segoe UI"/>
              </a:rPr>
              <a:t>Production-grade dark minimalist web interface with live slider tuning and model comparisons.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2392" cy="393192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5087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Future Scope &amp; Production Roadmap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➔ Live Dynamic Benchmark Scraper: </a:t>
            </a:r>
            <a:r>
              <a:rPr sz="950">
                <a:solidFill>
                  <a:srgbClr val="DCDCDC"/>
                </a:solidFill>
                <a:latin typeface="Segoe UI"/>
              </a:rPr>
              <a:t>Automated crawler syncing real-time LMSYS Chatbot Arena Elo and Artificial Analysis benchmarks.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➔ Real-Time Token Pricing Feeds: </a:t>
            </a:r>
            <a:r>
              <a:rPr sz="950">
                <a:solidFill>
                  <a:srgbClr val="DCDCDC"/>
                </a:solidFill>
                <a:latin typeface="Segoe UI"/>
              </a:rPr>
              <a:t>Continuous tracking of provider price changes, regional tier discounts, and batch pricing.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➔ User Feedback Learning: </a:t>
            </a:r>
            <a:r>
              <a:rPr sz="950">
                <a:solidFill>
                  <a:srgbClr val="DCDCDC"/>
                </a:solidFill>
                <a:latin typeface="Segoe UI"/>
              </a:rPr>
              <a:t>Bayesian preference adaptation updating model capability vectors based on thumbs-up feedback.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➔ Automated Dynamic API Routing: </a:t>
            </a:r>
            <a:r>
              <a:rPr sz="950">
                <a:solidFill>
                  <a:srgbClr val="DCDCDC"/>
                </a:solidFill>
                <a:latin typeface="Segoe UI"/>
              </a:rPr>
              <a:t>One-click execution proxy that automatically dispatches the user prompt directly to the winning LLM API.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FFFFF"/>
                </a:solidFill>
                <a:latin typeface="Segoe UI"/>
              </a:rPr>
              <a:t>➔ Multi-Tenant Enterprise Auditing: </a:t>
            </a:r>
            <a:r>
              <a:rPr sz="950">
                <a:solidFill>
                  <a:srgbClr val="DCDCDC"/>
                </a:solidFill>
                <a:latin typeface="Segoe UI"/>
              </a:rPr>
              <a:t>Organization-wide token usage tracking, historical audit logs, and spend optimization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5912" cy="59436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ctr"/>
            <a:r>
              <a:rPr b="1" sz="1200">
                <a:solidFill>
                  <a:srgbClr val="DCDCDC"/>
                </a:solidFill>
              </a:rPr>
              <a:t>“Don’t ask which AI is the best. </a:t>
            </a:r>
            <a:r>
              <a:rPr b="1" sz="1200">
                <a:solidFill>
                  <a:srgbClr val="10A37F"/>
                </a:solidFill>
              </a:rPr>
              <a:t>Ask which AI is best for THIS task.”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550408"/>
            <a:ext cx="457200" cy="457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31520" y="6309360"/>
            <a:ext cx="10725912" cy="1371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850">
                <a:solidFill>
                  <a:srgbClr val="6E6E6E"/>
                </a:solidFill>
                <a:latin typeface="Segoe UI"/>
              </a:defRPr>
            </a:pPr>
            <a:r>
              <a:t>MODELMATCH · AI-POWERED LLM RECOMMENDATION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355080"/>
            <a:ext cx="50566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E6E6E"/>
                </a:solidFill>
                <a:latin typeface="Segoe UI"/>
              </a:defRPr>
            </a:pPr>
            <a:r>
              <a:t>GALGOTIAS UNIVERSITY / GUVI PROJECT BOARD REVIEW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